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"/>
  </p:notesMasterIdLst>
  <p:sldIdLst>
    <p:sldId id="290" r:id="rId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omic Sans MS" panose="030F0702030302020204" pitchFamily="66" charset="0"/>
      <p:regular r:id="rId8"/>
      <p:bold r:id="rId9"/>
      <p:italic r:id="rId10"/>
      <p:boldItalic r:id="rId11"/>
    </p:embeddedFont>
    <p:embeddedFont>
      <p:font typeface="Fira Sans Extra Condensed" panose="020B05030500000200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419353-4101-4F35-B6F9-E57DE2F7BBD1}">
  <a:tblStyle styleId="{43419353-4101-4F35-B6F9-E57DE2F7BB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ableStyles" Target="tableStyle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be8009e00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be8009e00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986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36">
            <a:extLst>
              <a:ext uri="{FF2B5EF4-FFF2-40B4-BE49-F238E27FC236}">
                <a16:creationId xmlns:a16="http://schemas.microsoft.com/office/drawing/2014/main" id="{87E249A9-5BDA-B071-BEBB-3E09266B3C83}"/>
              </a:ext>
            </a:extLst>
          </p:cNvPr>
          <p:cNvGrpSpPr/>
          <p:nvPr/>
        </p:nvGrpSpPr>
        <p:grpSpPr>
          <a:xfrm flipH="1">
            <a:off x="3094487" y="0"/>
            <a:ext cx="6049513" cy="4838700"/>
            <a:chOff x="920304" y="657759"/>
            <a:chExt cx="5448300" cy="4108649"/>
          </a:xfrm>
          <a:solidFill>
            <a:srgbClr val="F27830"/>
          </a:solidFill>
          <a:effectLst>
            <a:outerShdw blurRad="127000" dist="38100" dir="8100000" algn="tr" rotWithShape="0">
              <a:prstClr val="black">
                <a:alpha val="10000"/>
              </a:prstClr>
            </a:outerShdw>
          </a:effectLst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9B8E2BE-490F-6DCE-8727-37D25AE889B1}"/>
                </a:ext>
              </a:extLst>
            </p:cNvPr>
            <p:cNvSpPr/>
            <p:nvPr/>
          </p:nvSpPr>
          <p:spPr>
            <a:xfrm>
              <a:off x="920304" y="657759"/>
              <a:ext cx="5448300" cy="4108649"/>
            </a:xfrm>
            <a:custGeom>
              <a:avLst/>
              <a:gdLst>
                <a:gd name="connsiteX0" fmla="*/ 0 w 5448300"/>
                <a:gd name="connsiteY0" fmla="*/ 4111792 h 4108649"/>
                <a:gd name="connsiteX1" fmla="*/ 1862614 w 5448300"/>
                <a:gd name="connsiteY1" fmla="*/ 3549325 h 4108649"/>
                <a:gd name="connsiteX2" fmla="*/ 3696367 w 5448300"/>
                <a:gd name="connsiteY2" fmla="*/ 2429623 h 4108649"/>
                <a:gd name="connsiteX3" fmla="*/ 4780121 w 5448300"/>
                <a:gd name="connsiteY3" fmla="*/ 857970 h 4108649"/>
                <a:gd name="connsiteX4" fmla="*/ 5455063 w 5448300"/>
                <a:gd name="connsiteY4" fmla="*/ 4 h 4108649"/>
                <a:gd name="connsiteX5" fmla="*/ 0 w 5448300"/>
                <a:gd name="connsiteY5" fmla="*/ 4 h 410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48300" h="4108649">
                  <a:moveTo>
                    <a:pt x="0" y="4111792"/>
                  </a:moveTo>
                  <a:cubicBezTo>
                    <a:pt x="458153" y="3274844"/>
                    <a:pt x="1292352" y="3671158"/>
                    <a:pt x="1862614" y="3549325"/>
                  </a:cubicBezTo>
                  <a:cubicBezTo>
                    <a:pt x="2801588" y="3348363"/>
                    <a:pt x="2323433" y="2442463"/>
                    <a:pt x="3696367" y="2429623"/>
                  </a:cubicBezTo>
                  <a:cubicBezTo>
                    <a:pt x="4826413" y="2419066"/>
                    <a:pt x="5147882" y="1961028"/>
                    <a:pt x="4780121" y="857970"/>
                  </a:cubicBezTo>
                  <a:cubicBezTo>
                    <a:pt x="4491419" y="-8936"/>
                    <a:pt x="5455063" y="4"/>
                    <a:pt x="5455063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27830">
                <a:lumMod val="40000"/>
                <a:lumOff val="60000"/>
              </a:srgbClr>
            </a:solidFill>
            <a:ln w="9525" cap="flat">
              <a:noFill/>
              <a:prstDash val="solid"/>
              <a:miter/>
            </a:ln>
            <a:effectLst>
              <a:outerShdw blurRad="1905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2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31B8858-AA78-02E3-B93E-F2BC4C6DB916}"/>
                </a:ext>
              </a:extLst>
            </p:cNvPr>
            <p:cNvSpPr/>
            <p:nvPr userDrawn="1"/>
          </p:nvSpPr>
          <p:spPr>
            <a:xfrm>
              <a:off x="920305" y="657763"/>
              <a:ext cx="5105400" cy="3576047"/>
            </a:xfrm>
            <a:custGeom>
              <a:avLst/>
              <a:gdLst>
                <a:gd name="connsiteX0" fmla="*/ 0 w 5105400"/>
                <a:gd name="connsiteY0" fmla="*/ 3582609 h 3576046"/>
                <a:gd name="connsiteX1" fmla="*/ 1693355 w 5105400"/>
                <a:gd name="connsiteY1" fmla="*/ 3237464 h 3576046"/>
                <a:gd name="connsiteX2" fmla="*/ 3463957 w 5105400"/>
                <a:gd name="connsiteY2" fmla="*/ 2198603 h 3576046"/>
                <a:gd name="connsiteX3" fmla="*/ 4489323 w 5105400"/>
                <a:gd name="connsiteY3" fmla="*/ 900574 h 3576046"/>
                <a:gd name="connsiteX4" fmla="*/ 5112067 w 5105400"/>
                <a:gd name="connsiteY4" fmla="*/ 0 h 3576046"/>
                <a:gd name="connsiteX5" fmla="*/ 0 w 5105400"/>
                <a:gd name="connsiteY5" fmla="*/ 0 h 357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05400" h="3576046">
                  <a:moveTo>
                    <a:pt x="0" y="3582609"/>
                  </a:moveTo>
                  <a:cubicBezTo>
                    <a:pt x="479393" y="2866163"/>
                    <a:pt x="1158907" y="3351688"/>
                    <a:pt x="1693355" y="3237464"/>
                  </a:cubicBezTo>
                  <a:cubicBezTo>
                    <a:pt x="2573274" y="3049531"/>
                    <a:pt x="2177320" y="2210301"/>
                    <a:pt x="3463957" y="2198603"/>
                  </a:cubicBezTo>
                  <a:cubicBezTo>
                    <a:pt x="4522946" y="2189092"/>
                    <a:pt x="4811745" y="1693772"/>
                    <a:pt x="4489323" y="900574"/>
                  </a:cubicBezTo>
                  <a:cubicBezTo>
                    <a:pt x="4159377" y="88735"/>
                    <a:pt x="5112067" y="0"/>
                    <a:pt x="5112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7830">
                <a:lumMod val="60000"/>
                <a:lumOff val="40000"/>
              </a:srgbClr>
            </a:solidFill>
            <a:ln w="9525" cap="flat">
              <a:noFill/>
              <a:prstDash val="solid"/>
              <a:miter/>
            </a:ln>
            <a:effectLst>
              <a:outerShdw blurRad="1905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2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47357B8-9C09-3DE4-42A7-5B03D7B1E466}"/>
                </a:ext>
              </a:extLst>
            </p:cNvPr>
            <p:cNvSpPr/>
            <p:nvPr/>
          </p:nvSpPr>
          <p:spPr>
            <a:xfrm>
              <a:off x="929830" y="657763"/>
              <a:ext cx="4667250" cy="3271702"/>
            </a:xfrm>
            <a:custGeom>
              <a:avLst/>
              <a:gdLst>
                <a:gd name="connsiteX0" fmla="*/ 4671537 w 4667250"/>
                <a:gd name="connsiteY0" fmla="*/ 0 h 3271702"/>
                <a:gd name="connsiteX1" fmla="*/ 0 w 4667250"/>
                <a:gd name="connsiteY1" fmla="*/ 0 h 3271702"/>
                <a:gd name="connsiteX2" fmla="*/ 0 w 4667250"/>
                <a:gd name="connsiteY2" fmla="*/ 3273890 h 3271702"/>
                <a:gd name="connsiteX3" fmla="*/ 1766507 w 4667250"/>
                <a:gd name="connsiteY3" fmla="*/ 3109068 h 3271702"/>
                <a:gd name="connsiteX4" fmla="*/ 3497771 w 4667250"/>
                <a:gd name="connsiteY4" fmla="*/ 2009149 h 3271702"/>
                <a:gd name="connsiteX5" fmla="*/ 4151947 w 4667250"/>
                <a:gd name="connsiteY5" fmla="*/ 802899 h 3271702"/>
                <a:gd name="connsiteX6" fmla="*/ 4671537 w 4667250"/>
                <a:gd name="connsiteY6" fmla="*/ 0 h 327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7250" h="3271702">
                  <a:moveTo>
                    <a:pt x="4671537" y="0"/>
                  </a:moveTo>
                  <a:lnTo>
                    <a:pt x="0" y="0"/>
                  </a:lnTo>
                  <a:lnTo>
                    <a:pt x="0" y="3273890"/>
                  </a:lnTo>
                  <a:cubicBezTo>
                    <a:pt x="438150" y="2619169"/>
                    <a:pt x="1271683" y="3176405"/>
                    <a:pt x="1766507" y="3109068"/>
                  </a:cubicBezTo>
                  <a:cubicBezTo>
                    <a:pt x="2694146" y="2982955"/>
                    <a:pt x="2321909" y="2020086"/>
                    <a:pt x="3497771" y="2009149"/>
                  </a:cubicBezTo>
                  <a:cubicBezTo>
                    <a:pt x="4465415" y="2000113"/>
                    <a:pt x="4398740" y="1545404"/>
                    <a:pt x="4151947" y="802899"/>
                  </a:cubicBezTo>
                  <a:cubicBezTo>
                    <a:pt x="3905155" y="60393"/>
                    <a:pt x="4671537" y="0"/>
                    <a:pt x="4671537" y="0"/>
                  </a:cubicBezTo>
                  <a:close/>
                </a:path>
              </a:pathLst>
            </a:custGeom>
            <a:solidFill>
              <a:srgbClr val="F27830"/>
            </a:solidFill>
            <a:ln w="9525" cap="flat">
              <a:noFill/>
              <a:prstDash val="solid"/>
              <a:miter/>
            </a:ln>
            <a:effectLst>
              <a:outerShdw blurRad="1905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2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9" name="Google Shape;379;p27"/>
          <p:cNvSpPr txBox="1">
            <a:spLocks noGrp="1"/>
          </p:cNvSpPr>
          <p:nvPr>
            <p:ph type="title"/>
          </p:nvPr>
        </p:nvSpPr>
        <p:spPr>
          <a:xfrm>
            <a:off x="4713996" y="276225"/>
            <a:ext cx="40438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latin typeface="Comic Sans MS" panose="030F0702030302020204" pitchFamily="66" charset="0"/>
              </a:rPr>
              <a:t>Canvas Business</a:t>
            </a:r>
            <a:endParaRPr sz="3300" dirty="0">
              <a:latin typeface="Comic Sans MS" panose="030F0702030302020204" pitchFamily="66" charset="0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457100" y="879011"/>
            <a:ext cx="8571490" cy="385303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7"/>
          <p:cNvSpPr/>
          <p:nvPr/>
        </p:nvSpPr>
        <p:spPr>
          <a:xfrm>
            <a:off x="548693" y="1544675"/>
            <a:ext cx="1441357" cy="230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Definir os parceiros de mercado.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Quem são os fornecedores?</a:t>
            </a:r>
            <a:endParaRPr dirty="0"/>
          </a:p>
        </p:txBody>
      </p:sp>
      <p:sp>
        <p:nvSpPr>
          <p:cNvPr id="382" name="Google Shape;382;p27"/>
          <p:cNvSpPr/>
          <p:nvPr/>
        </p:nvSpPr>
        <p:spPr>
          <a:xfrm>
            <a:off x="615450" y="1298175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Parceiros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3929107" y="1544675"/>
            <a:ext cx="1285800" cy="230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Importância da sua proposta?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Qual necessidade do cliente estamos satisfazendo?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6" name="Google Shape;386;p27"/>
          <p:cNvSpPr/>
          <p:nvPr/>
        </p:nvSpPr>
        <p:spPr>
          <a:xfrm>
            <a:off x="3840313" y="1298175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Proposta</a:t>
            </a:r>
            <a:r>
              <a:rPr lang="en-GB" sz="16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de </a:t>
            </a: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valor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7582754" y="1393183"/>
            <a:ext cx="1463379" cy="230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Quem será seu cliente?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Para quem estamos criando valor?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Qual o público alvo do nosso produto/solução?</a:t>
            </a:r>
            <a:endParaRPr dirty="0"/>
          </a:p>
        </p:txBody>
      </p:sp>
      <p:sp>
        <p:nvSpPr>
          <p:cNvPr id="390" name="Google Shape;390;p27"/>
          <p:cNvSpPr/>
          <p:nvPr/>
        </p:nvSpPr>
        <p:spPr>
          <a:xfrm>
            <a:off x="7650497" y="1101130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Clientes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5347136" y="1417542"/>
            <a:ext cx="2044684" cy="95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4" name="Google Shape;394;p27"/>
          <p:cNvSpPr/>
          <p:nvPr/>
        </p:nvSpPr>
        <p:spPr>
          <a:xfrm>
            <a:off x="5753818" y="1003347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Relacionamento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5541532" y="1410198"/>
            <a:ext cx="1782546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acontecerá a comunicação?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conquistamos, mantemos e expandimos clientes?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2237180" y="1544675"/>
            <a:ext cx="1387331" cy="95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Atividades desenvolvidas.</a:t>
            </a:r>
            <a:endParaRPr dirty="0"/>
          </a:p>
        </p:txBody>
      </p:sp>
      <p:sp>
        <p:nvSpPr>
          <p:cNvPr id="397" name="Google Shape;397;p27"/>
          <p:cNvSpPr/>
          <p:nvPr/>
        </p:nvSpPr>
        <p:spPr>
          <a:xfrm>
            <a:off x="2227888" y="1298175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Atividades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5696119" y="2838292"/>
            <a:ext cx="1285800" cy="95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5541532" y="2483046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Canais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5634885" y="2980322"/>
            <a:ext cx="12858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Canais de comunicação.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2316675" y="2894700"/>
            <a:ext cx="1285800" cy="95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Materiais necessários. </a:t>
            </a:r>
            <a:endParaRPr dirty="0"/>
          </a:p>
        </p:txBody>
      </p:sp>
      <p:sp>
        <p:nvSpPr>
          <p:cNvPr id="403" name="Google Shape;403;p27"/>
          <p:cNvSpPr/>
          <p:nvPr/>
        </p:nvSpPr>
        <p:spPr>
          <a:xfrm>
            <a:off x="2227888" y="2648200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Recursos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2078850" y="3998225"/>
            <a:ext cx="2422200" cy="49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Custo de aplicação da solução.</a:t>
            </a:r>
            <a:endParaRPr dirty="0"/>
          </a:p>
        </p:txBody>
      </p:sp>
      <p:sp>
        <p:nvSpPr>
          <p:cNvPr id="409" name="Google Shape;409;p27"/>
          <p:cNvSpPr/>
          <p:nvPr/>
        </p:nvSpPr>
        <p:spPr>
          <a:xfrm>
            <a:off x="6017575" y="3998225"/>
            <a:ext cx="2422200" cy="49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Projeção de receita.</a:t>
            </a:r>
            <a:endParaRPr dirty="0"/>
          </a:p>
        </p:txBody>
      </p:sp>
      <p:sp>
        <p:nvSpPr>
          <p:cNvPr id="410" name="Google Shape;410;p27"/>
          <p:cNvSpPr/>
          <p:nvPr/>
        </p:nvSpPr>
        <p:spPr>
          <a:xfrm>
            <a:off x="704250" y="4025188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4642975" y="4025188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Receitas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FF1F97-8B50-D7E7-0BE9-699395077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39" y="48825"/>
            <a:ext cx="25812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31771"/>
      </p:ext>
    </p:extLst>
  </p:cSld>
  <p:clrMapOvr>
    <a:masterClrMapping/>
  </p:clrMapOvr>
</p:sld>
</file>

<file path=ppt/theme/theme1.xml><?xml version="1.0" encoding="utf-8"?>
<a:theme xmlns:a="http://schemas.openxmlformats.org/drawingml/2006/main" name="Canvas Business Model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BEBEB"/>
      </a:lt2>
      <a:accent1>
        <a:srgbClr val="FF7B68"/>
      </a:accent1>
      <a:accent2>
        <a:srgbClr val="0B83C2"/>
      </a:accent2>
      <a:accent3>
        <a:srgbClr val="01B4C4"/>
      </a:accent3>
      <a:accent4>
        <a:srgbClr val="4BBCDC"/>
      </a:accent4>
      <a:accent5>
        <a:srgbClr val="096D77"/>
      </a:accent5>
      <a:accent6>
        <a:srgbClr val="E9BD3B"/>
      </a:accent6>
      <a:hlink>
        <a:srgbClr val="FF7B6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90</Words>
  <Application>Microsoft Office PowerPoint</Application>
  <PresentationFormat>Apresentação na tela (16:9)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Roboto</vt:lpstr>
      <vt:lpstr>Comic Sans MS</vt:lpstr>
      <vt:lpstr>Fira Sans Extra Condensed</vt:lpstr>
      <vt:lpstr>Arial</vt:lpstr>
      <vt:lpstr>Calibri</vt:lpstr>
      <vt:lpstr>Canvas Business Model Infographics by Slidesgo</vt:lpstr>
      <vt:lpstr>Canvas Business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 Business Model Infographics</dc:title>
  <dc:creator>JULYANA CARVALHO LEITE</dc:creator>
  <cp:lastModifiedBy>DEIVSON VICTOR TELES LEITE</cp:lastModifiedBy>
  <cp:revision>4</cp:revision>
  <dcterms:modified xsi:type="dcterms:W3CDTF">2023-09-27T22:19:10Z</dcterms:modified>
</cp:coreProperties>
</file>